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49728-D5AE-B705-081E-6508152BD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090C97-0303-DA71-1CD3-60CD72137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D5991F-2BA3-8CD6-39CF-D35C5AE9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288FB-1840-D249-25DA-056F8358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E700F2-52D7-25D5-BD19-88D34CCD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4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8E6D6-B975-C4D0-8021-E75F970A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D8B306-D9EB-CEBC-9625-D0CB59019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A898C-01B5-F345-216D-98A725E7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C7FE7-3907-84AE-4AAE-6999C13A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2E32B-54A8-3551-C705-F40536D4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5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E5D2E-8D99-5040-CD2E-8865E8D0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FC3AAF-E137-080A-F2F5-5A486952A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74AA6F-5124-554E-C432-3DA70F8D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7A2788-8BBA-3FE0-D2BB-0B970A06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4AFBE-C574-24CF-CCA7-AF6064E4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25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13F82-9095-E518-76F9-E7DE8F50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F5397D-9C42-F673-FDCD-B3086D795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00BE60-1933-D66A-4423-F95FB5E76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0FE8B9-203E-3671-D27F-5545623B6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A8C3C6-B454-BC9B-E60F-51AEC9CC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623C5A-A6FD-7466-7EDA-2EA0CC2F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7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F125A-F102-7EEA-AF17-9495693F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C7A7C6-0258-AAB5-94A4-21DA674E0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85013B-3C46-A629-A91B-807FA476D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0BDA30-E1CE-1205-B8AC-78AC66DD7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BA2D9E-ADC1-9ABD-88AC-21E324AAF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2FD4FB-81FA-22CA-B8DE-43A0077A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A1885-3568-CA64-0B63-C39D7EF7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5D7E7A-936B-22FD-CE19-ABB9BE41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7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F896A-453F-3090-A819-E253309A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599FC9-F8DA-B871-7DDC-D905238A9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B44925-359A-B17F-DF62-B4F879C80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A33A8E-14E4-7F48-F68F-2B426A3A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1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0302C4-8CF2-57CB-0F85-69C18C90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04A3F1-A492-4361-9482-302BE6EB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AEEC8B-0276-B4F0-EE83-A26B59E0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75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DCB3B-A893-8098-830D-AF945515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D9AF9-F253-0B33-1425-0BB273BA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BA0B33-88A1-326F-71E5-B409AAEE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7188DB-FDF4-9703-9E4D-B4825A39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6E9AA3-03E7-FF37-B0BE-D45D08B9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1AA2D-3642-9860-174D-A0852F2F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96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0D8C3-4DA0-3172-A967-C39F9CCA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D27EB2-865B-2300-8A14-A19F71C8A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9102A3-D774-87FB-A7AB-808CF6E01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FFAF27-6D86-B53B-FB04-017BB2819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024D79-2806-FD42-05FF-92E7AD79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A49183-F430-8895-5156-05BB9DA5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60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20763-50FB-1C6E-5F7B-C58313FA2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465AE2-76E7-823F-BDDE-653316F15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5F291A-E9D9-00CC-7427-9B9CA3E8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8811E-0E4D-C3D6-123C-751FF5A9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ECFE01-9D57-BE6F-EFBE-1C4EA945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46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325C9C-990C-3C32-9F48-86E0CB04A4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3849F9-8259-ED98-DECD-040D372D0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6F28D3-28EB-F91C-BD41-3CB3612BE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D4903-1CA7-1F12-83C1-931B4A34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9AF5D3-2DF9-D17E-B877-653D3BDB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85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2A24E5-6974-656F-F2BB-A9742514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660438-1B41-E468-3C9F-281708D50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DB88D-1F0F-4C40-B16F-97DE669ED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B081C-6537-416C-96E8-C4117E5C1B98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A5CB1-D376-045E-C7CA-33F679F63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C0386-0F46-A71C-204F-AB2D8E2B5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97F7C-F506-4509-99BB-684BFF50D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57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A06F21D-1740-AE5E-293B-23466E56A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506129"/>
              </p:ext>
            </p:extLst>
          </p:nvPr>
        </p:nvGraphicFramePr>
        <p:xfrm>
          <a:off x="688260" y="812901"/>
          <a:ext cx="10815480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3895">
                  <a:extLst>
                    <a:ext uri="{9D8B030D-6E8A-4147-A177-3AD203B41FA5}">
                      <a16:colId xmlns:a16="http://schemas.microsoft.com/office/drawing/2014/main" val="2350961993"/>
                    </a:ext>
                  </a:extLst>
                </a:gridCol>
                <a:gridCol w="3628103">
                  <a:extLst>
                    <a:ext uri="{9D8B030D-6E8A-4147-A177-3AD203B41FA5}">
                      <a16:colId xmlns:a16="http://schemas.microsoft.com/office/drawing/2014/main" val="3083938008"/>
                    </a:ext>
                  </a:extLst>
                </a:gridCol>
                <a:gridCol w="2644877">
                  <a:extLst>
                    <a:ext uri="{9D8B030D-6E8A-4147-A177-3AD203B41FA5}">
                      <a16:colId xmlns:a16="http://schemas.microsoft.com/office/drawing/2014/main" val="2789854540"/>
                    </a:ext>
                  </a:extLst>
                </a:gridCol>
                <a:gridCol w="3598605">
                  <a:extLst>
                    <a:ext uri="{9D8B030D-6E8A-4147-A177-3AD203B41FA5}">
                      <a16:colId xmlns:a16="http://schemas.microsoft.com/office/drawing/2014/main" val="2004708763"/>
                    </a:ext>
                  </a:extLst>
                </a:gridCol>
              </a:tblGrid>
              <a:tr h="26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규제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정식 명칭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상태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부품사 관련성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3734702793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PPWR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포장재·포장폐기물 규정 (EU) 2025/40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시행 중 (2026.8.12~)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EU 수출 시 제품·운송 포장(파렛트·용기·완충재)이 직접 대상. 재활용 설계·표시 의무, 2030년 재생원료 기준 예정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2879452774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ESPR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지속가능제품 에코디자인 규정 (EU) 2024/1781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시행 중 (품목별 위임법 단계 적용)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1차 작업계획에 철강·알루미늄·타이어 포함 — 위임법 확정 시 디지털 제품 여권(DPP) 데이터 대응 필요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981441034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ELVR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차량 순환성·폐차 규정안 COM(2023) 451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입법 협상 중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자동차 전용 규제 — 재생 플라스틱 25% 목표, 부품 탈거·재사용 용이 설계가 완성차 사양으로 파급 전망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989365690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RED III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재생에너지 지침 (EU) 2023/2413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시행 중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300"/>
                        <a:t>회원국 대상 — 부품사 직접 의무 없음, 고객사 재생에너지(RE100) 요구의 배경 규제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2719569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89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8D9460-29D2-FEF2-EF89-EF5A789BE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418259"/>
              </p:ext>
            </p:extLst>
          </p:nvPr>
        </p:nvGraphicFramePr>
        <p:xfrm>
          <a:off x="542249" y="717027"/>
          <a:ext cx="11314470" cy="5699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5711">
                  <a:extLst>
                    <a:ext uri="{9D8B030D-6E8A-4147-A177-3AD203B41FA5}">
                      <a16:colId xmlns:a16="http://schemas.microsoft.com/office/drawing/2014/main" val="4070835123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678718757"/>
                    </a:ext>
                  </a:extLst>
                </a:gridCol>
                <a:gridCol w="4282439">
                  <a:extLst>
                    <a:ext uri="{9D8B030D-6E8A-4147-A177-3AD203B41FA5}">
                      <a16:colId xmlns:a16="http://schemas.microsoft.com/office/drawing/2014/main" val="2026969666"/>
                    </a:ext>
                  </a:extLst>
                </a:gridCol>
              </a:tblGrid>
              <a:tr h="47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구분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내용과 작성 기준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개선 방향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704086610"/>
                  </a:ext>
                </a:extLst>
              </a:tr>
              <a:tr h="2966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재단 브리핑 · 권고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매주 자동 수집된 기사 중 규제 상태 변화 신호(채택·의결, 일정 변경, 시행, 지침 발표, 제재)가 감지된 기사를 근거로, "무슨 일이 있었나 → 부품사에 무슨 의미인가 → 무엇을 확인할 것인가" 구조로 작성. 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▸ 게시 전 담당자 검토 절차 정례화 </a:t>
                      </a:r>
                      <a:endParaRPr lang="en-US" altLang="ko-KR" sz="1800"/>
                    </a:p>
                    <a:p>
                      <a:pPr>
                        <a:buNone/>
                      </a:pPr>
                      <a:r>
                        <a:rPr lang="ko-KR" sz="1800"/>
                        <a:t>▸ 코멘트마다 근거 기사 링크 표시</a:t>
                      </a:r>
                      <a:endParaRPr lang="en-US" altLang="ko-KR" sz="18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800"/>
                        <a:t>▸ 명칭을 「이슈 브리핑」으로 변경해 재단 공식 입장으로 오독될 부담 축소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8881908"/>
                  </a:ext>
                </a:extLst>
              </a:tr>
              <a:tr h="2254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완성차 고객사 동향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규제 법 조문에 정해진 의무 구조를 근거로, 그 의무가 완성차를 거쳐 협력사 요구로 이어지는 경로를 설명. 특정 기업 사례·내부 정보는 넣지 않고, 언론 보도로 확인된 것만 반영하는 원칙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/>
                        <a:t>▸ 완성차 공급망 ESG 관련 언론 보도 수집을 추가해 실제 보도 기반 내용으로 보강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885315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51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871E5EF-BC24-328F-02F0-DB26236F9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00369"/>
              </p:ext>
            </p:extLst>
          </p:nvPr>
        </p:nvGraphicFramePr>
        <p:xfrm>
          <a:off x="562708" y="408305"/>
          <a:ext cx="11629292" cy="12618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79793">
                  <a:extLst>
                    <a:ext uri="{9D8B030D-6E8A-4147-A177-3AD203B41FA5}">
                      <a16:colId xmlns:a16="http://schemas.microsoft.com/office/drawing/2014/main" val="3836884709"/>
                    </a:ext>
                  </a:extLst>
                </a:gridCol>
                <a:gridCol w="8949499">
                  <a:extLst>
                    <a:ext uri="{9D8B030D-6E8A-4147-A177-3AD203B41FA5}">
                      <a16:colId xmlns:a16="http://schemas.microsoft.com/office/drawing/2014/main" val="2327526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규제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완성차 고객사 동향 (현재 문구)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216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CSDDD</a:t>
                      </a:r>
                      <a:r>
                        <a:rPr lang="ko-KR"/>
                        <a:t> 공급망 실사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이 규제가 적용되는 완성차·대기업은 자기 공급망에 인권·환경 문제가 없는지 점검할 의무가 생깁니다. 그래서 협력사에게 실사 설문 응답, 자료 제출, 문제 발견 시 개선 요구가 올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11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CSRD</a:t>
                      </a:r>
                      <a:r>
                        <a:rPr lang="ko-KR"/>
                        <a:t> 지속가능성 보고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공시 대상 기업은 지속가능성 보고서에 공급망 정보까지 담아야 합니다. 그래서 고객사가 협력사에게 전기 사용량, 탄소 배출량 같은 데이터를 정해진 양식으로 요구할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426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EUDR</a:t>
                      </a:r>
                      <a:r>
                        <a:rPr lang="ko-KR"/>
                        <a:t> 산림전용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타이어·가죽시트 같은 제품을 EU에 내놓는 회사는 '원료가 산림을 훼손하지 않았다'는 신고를 해야 합니다. 그 신고에 원산지 위치 정보가 필요하기 때문에, 납품하는 협력사에게 원료의 원산지 좌표와 증빙을 요구할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995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CBAM</a:t>
                      </a:r>
                      <a:r>
                        <a:rPr lang="ko-KR"/>
                        <a:t> 탄소국경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탄소국경 신고는 EU에서 수입하는 회사가 합니다. 그래서 철강·알루미늄 부품을 납품하는 기업에게 '만들 때 나온 탄소량' 자료를 요구하게 됩니다. 자료를 제출하지 못하면 불리한 기본값으로 계산돼 가격 경쟁력이 떨어집니다.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598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배터리</a:t>
                      </a:r>
                      <a:r>
                        <a:rPr lang="ko-KR"/>
                        <a:t> (EUBR)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배터리를 EU에 파는 회사는 '배터리 여권'이라는 정보 묶음(소재 구성, 재활용 원료 비율, 탄소발자국)을 만들어야 합니다. 그 정보의 상당 부분이 부품·소재사에서 나오기 때문에 협력사에게 데이터 제출 요구가 올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60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PPWR</a:t>
                      </a:r>
                      <a:r>
                        <a:rPr lang="ko-KR"/>
                        <a:t> 포장재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포장된 제품을 EU에 내놓는 회사는 포장이 기준(재활용 가능한 설계, 표시 등)에 맞는지 확인해야 합니다. 그래서 납품 포장(파렛트·상자·완충재)의 재질 정보를 요구하거나, 포장 방식 변경을 요청할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55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ESPR</a:t>
                      </a:r>
                      <a:r>
                        <a:rPr lang="ko-KR"/>
                        <a:t> 에코디자인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품목별 세부 규정이 확정되면 제품마다 '디지털 제품 여권'(소재·재활용 정보가 담긴 전자 이력서)이 필요해집니다. 철강·알루미늄·타이어가 우선 품목이라, 확정되면 협력사에게 소재 정보 제출 요구가 올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801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ELVR</a:t>
                      </a:r>
                      <a:r>
                        <a:rPr lang="ko-KR"/>
                        <a:t> 차량 순환성·폐차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아직 협상 중인 법안이지만, 확정되면 차를 설계할 때부터 재활용을 고려하고 재생 플라스틱을 일정 비율 써야 합니다. 차량 인증과 연결되는 규제라, 완성차가 부품 사양(재생원료 비율, 분리하기 쉬운 설계)으로 협력사에게 요구하는 방식으로 이어질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921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FLR</a:t>
                      </a:r>
                      <a:r>
                        <a:rPr lang="ko-KR"/>
                        <a:t> 강제노동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강제노동으로 만든 제품은 EU에서 팔 수 없고, 적발되면 회수·폐기까지 됩니다. 조사가 시작되면 원료 조달 이력을 제출해야 하므로, 고객사가 평소에 협력사의 소싱 이력 자료를 요구할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719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Omnibus</a:t>
                      </a:r>
                      <a:r>
                        <a:rPr lang="ko-KR"/>
                        <a:t> 간소화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규제 부담을 줄이는 방향의 개정 협상입니다. 다만 법이 완화돼도 고객사는 자체 기준으로 기존 요구를 유지할 수 있으니, 확정 내용과 고객사 공지를 함께 확인해야 합니다.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6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그린클레임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'친환경', '탄소중립' 같은 문구를 근거 없이 쓰는 것을 금지하는 규제입니다. 완성차 홍보에 부품의 친환경 문구가 들어가면 협력사도 근거 자료(시험성적서·인증)를 요구받을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098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택소노미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어떤 사업이 '녹색'인지 판별하는 기준표입니다. 고객사나 은행이 녹색 매출 비율을 계산할 때 협력사의 제품 정보가 참조될 수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608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SFDR</a:t>
                      </a:r>
                      <a:r>
                        <a:rPr lang="ko-KR"/>
                        <a:t> 지속가능금융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금융회사 대상 규제라 부품사와 직접 관련은 없습니다. 투자 유치나 대출 심사에서 ESG 자료를 요구받는 정도의 간접 접점만 있습니다.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762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RED III</a:t>
                      </a:r>
                      <a:r>
                        <a:rPr lang="ko-KR"/>
                        <a:t> 재생에너지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EU 국가들의 재생에너지 목표를 정한 규제로 기업에 직접 의무는 없습니다. 다만 고객사가 '재생에너지로 만든 부품'을 원하는 흐름의 배경이 되는 규제입니다.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72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87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61DAF6-3473-A60D-850A-C1408525154F}"/>
              </a:ext>
            </a:extLst>
          </p:cNvPr>
          <p:cNvSpPr txBox="1"/>
          <p:nvPr/>
        </p:nvSpPr>
        <p:spPr>
          <a:xfrm>
            <a:off x="1081283" y="296100"/>
            <a:ext cx="8806069" cy="166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ko-KR" altLang="ko-KR"/>
              <a:t>1안 : </a:t>
            </a:r>
            <a:r>
              <a:rPr lang="en-US" altLang="ko-KR">
                <a:highlight>
                  <a:srgbClr val="FFFF00"/>
                </a:highlight>
              </a:rPr>
              <a:t>esg-</a:t>
            </a:r>
            <a:r>
              <a:rPr lang="ko-KR" altLang="ko-KR">
                <a:highlight>
                  <a:srgbClr val="FFFF00"/>
                </a:highlight>
              </a:rPr>
              <a:t>monitoring.kmbridge.org </a:t>
            </a:r>
            <a:r>
              <a:rPr lang="ko-KR" altLang="ko-KR"/>
              <a:t>— 주소만 봐도 용도가 전달, 확장성 좋음</a:t>
            </a:r>
          </a:p>
          <a:p>
            <a:pPr lvl="0">
              <a:lnSpc>
                <a:spcPct val="200000"/>
              </a:lnSpc>
            </a:pPr>
            <a:r>
              <a:rPr lang="ko-KR" altLang="ko-KR"/>
              <a:t>2안: regwatch.kmbridge.org — 짧고 전문적이나 직관성 낮음</a:t>
            </a:r>
          </a:p>
          <a:p>
            <a:pPr lvl="0">
              <a:lnSpc>
                <a:spcPct val="200000"/>
              </a:lnSpc>
            </a:pPr>
            <a:r>
              <a:rPr lang="ko-KR" altLang="ko-KR"/>
              <a:t>3안: eu-esg.kmbridge.org — 대상 명확하나 향후 EU 외 규제 확장 시 이름이 좁음</a:t>
            </a:r>
          </a:p>
        </p:txBody>
      </p:sp>
    </p:spTree>
    <p:extLst>
      <p:ext uri="{BB962C8B-B14F-4D97-AF65-F5344CB8AC3E}">
        <p14:creationId xmlns:p14="http://schemas.microsoft.com/office/powerpoint/2010/main" val="358418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833</Words>
  <Application>Microsoft Office PowerPoint</Application>
  <PresentationFormat>와이드스크린</PresentationFormat>
  <Paragraphs>64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임지혜</dc:creator>
  <cp:lastModifiedBy>임지혜</cp:lastModifiedBy>
  <cp:revision>1</cp:revision>
  <dcterms:created xsi:type="dcterms:W3CDTF">2026-08-27T01:48:31Z</dcterms:created>
  <dcterms:modified xsi:type="dcterms:W3CDTF">2026-08-27T08:24:40Z</dcterms:modified>
</cp:coreProperties>
</file>